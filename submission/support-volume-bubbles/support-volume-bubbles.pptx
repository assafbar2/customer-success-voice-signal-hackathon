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1A1714"/>
                </a:solidFill>
                <a:latin typeface="Calibri"/>
              </a:rPr>
              <a:t>Where attention already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C554C"/>
                </a:solidFill>
                <a:latin typeface="Calibri"/>
              </a:rPr>
              <a:t>Bubble area = volume. Same type everywhere — Support is bold, ringed, and called out.</a:t>
            </a:r>
          </a:p>
        </p:txBody>
      </p:sp>
      <p:sp>
        <p:nvSpPr>
          <p:cNvPr id="5" name="Oval 4"/>
          <p:cNvSpPr/>
          <p:nvPr/>
        </p:nvSpPr>
        <p:spPr>
          <a:xfrm>
            <a:off x="2719425" y="1495044"/>
            <a:ext cx="3547872" cy="3547872"/>
          </a:xfrm>
          <a:prstGeom prst="ellipse">
            <a:avLst/>
          </a:prstGeom>
          <a:solidFill>
            <a:srgbClr val="D8CFC3"/>
          </a:solidFill>
          <a:ln w="12700">
            <a:solidFill>
              <a:srgbClr val="B9A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1714"/>
                </a:solidFill>
                <a:latin typeface="Calibri"/>
              </a:rPr>
              <a:t>Documentation</a:t>
            </a:r>
          </a:p>
          <a:p>
            <a:pPr algn="ctr"/>
            <a:r>
              <a:rPr sz="1400" b="0">
                <a:solidFill>
                  <a:srgbClr val="1A1714"/>
                </a:solidFill>
                <a:latin typeface="Calibri"/>
              </a:rPr>
              <a:t>300,000</a:t>
            </a:r>
          </a:p>
        </p:txBody>
      </p:sp>
      <p:sp>
        <p:nvSpPr>
          <p:cNvPr id="6" name="Oval 5"/>
          <p:cNvSpPr/>
          <p:nvPr/>
        </p:nvSpPr>
        <p:spPr>
          <a:xfrm>
            <a:off x="6276019" y="2407211"/>
            <a:ext cx="2525393" cy="2525393"/>
          </a:xfrm>
          <a:prstGeom prst="ellipse">
            <a:avLst/>
          </a:prstGeom>
          <a:solidFill>
            <a:srgbClr val="D8CFC3"/>
          </a:solidFill>
          <a:ln w="12700">
            <a:solidFill>
              <a:srgbClr val="B9A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A1714"/>
                </a:solidFill>
                <a:latin typeface="Calibri"/>
              </a:rPr>
              <a:t>Help centers total articles views</a:t>
            </a:r>
          </a:p>
          <a:p>
            <a:pPr algn="ctr"/>
            <a:r>
              <a:rPr sz="1400" b="0">
                <a:solidFill>
                  <a:srgbClr val="1A1714"/>
                </a:solidFill>
                <a:latin typeface="Calibri"/>
              </a:rPr>
              <a:t>152,000</a:t>
            </a:r>
          </a:p>
        </p:txBody>
      </p:sp>
      <p:sp>
        <p:nvSpPr>
          <p:cNvPr id="7" name="Oval 6"/>
          <p:cNvSpPr/>
          <p:nvPr/>
        </p:nvSpPr>
        <p:spPr>
          <a:xfrm>
            <a:off x="5672981" y="4448600"/>
            <a:ext cx="679365" cy="679365"/>
          </a:xfrm>
          <a:prstGeom prst="ellipse">
            <a:avLst/>
          </a:prstGeom>
          <a:solidFill>
            <a:srgbClr val="D8CFC3"/>
          </a:solidFill>
          <a:ln w="12700">
            <a:solidFill>
              <a:srgbClr val="B9A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2347" y="453682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714"/>
                </a:solidFill>
                <a:latin typeface="Calibri"/>
              </a:rPr>
              <a:t>Kapa</a:t>
            </a:r>
          </a:p>
          <a:p>
            <a:pPr algn="l"/>
            <a:r>
              <a:rPr sz="1400" b="0">
                <a:solidFill>
                  <a:srgbClr val="1A1714"/>
                </a:solidFill>
                <a:latin typeface="Calibri"/>
              </a:rPr>
              <a:t>11,000</a:t>
            </a:r>
          </a:p>
        </p:txBody>
      </p:sp>
      <p:sp>
        <p:nvSpPr>
          <p:cNvPr id="9" name="Oval 8"/>
          <p:cNvSpPr/>
          <p:nvPr/>
        </p:nvSpPr>
        <p:spPr>
          <a:xfrm>
            <a:off x="4836815" y="5010543"/>
            <a:ext cx="336580" cy="336580"/>
          </a:xfrm>
          <a:prstGeom prst="ellipse">
            <a:avLst/>
          </a:prstGeom>
          <a:solidFill>
            <a:srgbClr val="D8CFC3"/>
          </a:solidFill>
          <a:ln w="12700">
            <a:solidFill>
              <a:srgbClr val="B9A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3395" y="4927373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714"/>
                </a:solidFill>
                <a:latin typeface="Calibri"/>
              </a:rPr>
              <a:t>GitHub issues &amp; discussions</a:t>
            </a:r>
          </a:p>
          <a:p>
            <a:pPr algn="l"/>
            <a:r>
              <a:rPr sz="1400" b="0">
                <a:solidFill>
                  <a:srgbClr val="1A1714"/>
                </a:solidFill>
                <a:latin typeface="Calibri"/>
              </a:rPr>
              <a:t>2,700</a:t>
            </a:r>
          </a:p>
        </p:txBody>
      </p:sp>
      <p:sp>
        <p:nvSpPr>
          <p:cNvPr id="11" name="Oval 10"/>
          <p:cNvSpPr/>
          <p:nvPr/>
        </p:nvSpPr>
        <p:spPr>
          <a:xfrm>
            <a:off x="6129274" y="3946977"/>
            <a:ext cx="158665" cy="158665"/>
          </a:xfrm>
          <a:prstGeom prst="ellipse">
            <a:avLst/>
          </a:prstGeom>
          <a:solidFill>
            <a:srgbClr val="D8CFC3"/>
          </a:solidFill>
          <a:ln w="12700">
            <a:solidFill>
              <a:srgbClr val="B9A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7940" y="377485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714"/>
                </a:solidFill>
                <a:latin typeface="Calibri"/>
              </a:rPr>
              <a:t>Social channels</a:t>
            </a:r>
          </a:p>
          <a:p>
            <a:pPr algn="l"/>
            <a:r>
              <a:rPr sz="1400" b="0">
                <a:solidFill>
                  <a:srgbClr val="1A1714"/>
                </a:solidFill>
                <a:latin typeface="Calibri"/>
              </a:rPr>
              <a:t>600</a:t>
            </a:r>
          </a:p>
        </p:txBody>
      </p:sp>
      <p:sp>
        <p:nvSpPr>
          <p:cNvPr id="13" name="Oval 12"/>
          <p:cNvSpPr/>
          <p:nvPr/>
        </p:nvSpPr>
        <p:spPr>
          <a:xfrm>
            <a:off x="6065320" y="4107551"/>
            <a:ext cx="91605" cy="91605"/>
          </a:xfrm>
          <a:prstGeom prst="ellipse">
            <a:avLst/>
          </a:prstGeom>
          <a:solidFill>
            <a:srgbClr val="D8CFC3"/>
          </a:solidFill>
          <a:ln w="12700">
            <a:solidFill>
              <a:srgbClr val="B9A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6926" y="3901894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714"/>
                </a:solidFill>
                <a:latin typeface="Calibri"/>
              </a:rPr>
              <a:t>Discord &amp; community</a:t>
            </a:r>
          </a:p>
          <a:p>
            <a:pPr algn="l"/>
            <a:r>
              <a:rPr sz="1400" b="0">
                <a:solidFill>
                  <a:srgbClr val="1A1714"/>
                </a:solidFill>
                <a:latin typeface="Calibri"/>
              </a:rPr>
              <a:t>200</a:t>
            </a:r>
          </a:p>
        </p:txBody>
      </p:sp>
      <p:sp>
        <p:nvSpPr>
          <p:cNvPr id="15" name="Oval 14"/>
          <p:cNvSpPr/>
          <p:nvPr/>
        </p:nvSpPr>
        <p:spPr>
          <a:xfrm>
            <a:off x="6002017" y="4217195"/>
            <a:ext cx="91605" cy="91605"/>
          </a:xfrm>
          <a:prstGeom prst="ellipse">
            <a:avLst/>
          </a:prstGeom>
          <a:solidFill>
            <a:srgbClr val="D8CFC3"/>
          </a:solidFill>
          <a:ln w="12700">
            <a:solidFill>
              <a:srgbClr val="B9A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3623" y="4011537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714"/>
                </a:solidFill>
                <a:latin typeface="Calibri"/>
              </a:rPr>
              <a:t>Feedback systems</a:t>
            </a:r>
          </a:p>
          <a:p>
            <a:pPr algn="l"/>
            <a:r>
              <a:rPr sz="1400" b="0">
                <a:solidFill>
                  <a:srgbClr val="1A1714"/>
                </a:solidFill>
                <a:latin typeface="Calibri"/>
              </a:rPr>
              <a:t>200</a:t>
            </a:r>
          </a:p>
        </p:txBody>
      </p:sp>
      <p:sp>
        <p:nvSpPr>
          <p:cNvPr id="17" name="Oval 16"/>
          <p:cNvSpPr/>
          <p:nvPr/>
        </p:nvSpPr>
        <p:spPr>
          <a:xfrm>
            <a:off x="4371064" y="4954568"/>
            <a:ext cx="543874" cy="543874"/>
          </a:xfrm>
          <a:prstGeom prst="ellipse">
            <a:avLst/>
          </a:prstGeom>
          <a:noFill/>
          <a:ln w="22225">
            <a:solidFill>
              <a:srgbClr val="8A3B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97182" y="5468443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8A3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BF6"/>
                </a:solidFill>
                <a:latin typeface="Calibri"/>
              </a:rPr>
              <a:t>Support   2,500</a:t>
            </a:r>
          </a:p>
        </p:txBody>
      </p:sp>
      <p:sp>
        <p:nvSpPr>
          <p:cNvPr id="19" name="Oval 18"/>
          <p:cNvSpPr/>
          <p:nvPr/>
        </p:nvSpPr>
        <p:spPr>
          <a:xfrm>
            <a:off x="4481064" y="5064568"/>
            <a:ext cx="323874" cy="323874"/>
          </a:xfrm>
          <a:prstGeom prst="ellipse">
            <a:avLst/>
          </a:prstGeom>
          <a:solidFill>
            <a:srgbClr val="E8A54B"/>
          </a:solidFill>
          <a:ln w="34925">
            <a:solidFill>
              <a:srgbClr val="8A3B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54939" y="4975045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1408"/>
                </a:solidFill>
                <a:latin typeface="Calibri"/>
              </a:rPr>
              <a:t>Support</a:t>
            </a:r>
          </a:p>
          <a:p>
            <a:pPr algn="l"/>
            <a:r>
              <a:rPr sz="1400" b="1">
                <a:solidFill>
                  <a:srgbClr val="2A1408"/>
                </a:solidFill>
                <a:latin typeface="Calibri"/>
              </a:rPr>
              <a:t>2,500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669280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54C"/>
                </a:solidFill>
                <a:latin typeface="Calibri"/>
              </a:rPr>
              <a:t>Area scales with volume (Documentation ≈ 1500× Feedback / Discord). GitHub = 2,700.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1714"/>
                </a:solidFill>
                <a:latin typeface="Calibri"/>
              </a:rPr>
              <a:t>We redesigned one of the smallest, clearest surfaces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