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A1714"/>
                </a:solidFill>
                <a:latin typeface="Calibri"/>
              </a:rPr>
              <a:t>Where attention already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554C"/>
                </a:solidFill>
                <a:latin typeface="Calibri"/>
              </a:rPr>
              <a:t>Tile size = volume (linear). Color reinforces the same scale. Same type everywhere — Support is bold.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" y="1057046"/>
            <a:ext cx="6699570" cy="4423868"/>
          </a:xfrm>
          <a:prstGeom prst="roundRect">
            <a:avLst>
              <a:gd name="adj" fmla="val 5000"/>
            </a:avLst>
          </a:prstGeom>
          <a:solidFill>
            <a:srgbClr val="C4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BF6"/>
                </a:solidFill>
                <a:latin typeface="Calibri"/>
              </a:rPr>
              <a:t>Documentation</a:t>
            </a:r>
          </a:p>
          <a:p>
            <a:pPr algn="ctr"/>
            <a:r>
              <a:rPr sz="1500" b="0">
                <a:solidFill>
                  <a:srgbClr val="FFFBF6"/>
                </a:solidFill>
                <a:latin typeface="Calibri"/>
              </a:rPr>
              <a:t>300,000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18948" y="1057046"/>
            <a:ext cx="3764826" cy="3982486"/>
          </a:xfrm>
          <a:prstGeom prst="roundRect">
            <a:avLst>
              <a:gd name="adj" fmla="val 5000"/>
            </a:avLst>
          </a:prstGeom>
          <a:solidFill>
            <a:srgbClr val="CF5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BF6"/>
                </a:solidFill>
                <a:latin typeface="Calibri"/>
              </a:rPr>
              <a:t>Help centers total articles views</a:t>
            </a:r>
          </a:p>
          <a:p>
            <a:pPr algn="ctr"/>
            <a:r>
              <a:rPr sz="1500" b="0">
                <a:solidFill>
                  <a:srgbClr val="FFFBF6"/>
                </a:solidFill>
                <a:latin typeface="Calibri"/>
              </a:rPr>
              <a:t>152,000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8948" y="5050504"/>
            <a:ext cx="2461277" cy="430410"/>
          </a:xfrm>
          <a:prstGeom prst="roundRect">
            <a:avLst>
              <a:gd name="adj" fmla="val 5000"/>
            </a:avLst>
          </a:prstGeom>
          <a:solidFill>
            <a:srgbClr val="EC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Kapa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11,000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1197" y="5050504"/>
            <a:ext cx="550903" cy="430410"/>
          </a:xfrm>
          <a:prstGeom prst="roundRect">
            <a:avLst>
              <a:gd name="adj" fmla="val 5000"/>
            </a:avLst>
          </a:prstGeom>
          <a:solidFill>
            <a:srgbClr val="F1C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GitHub issues &amp; discussions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2500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53071" y="5050504"/>
            <a:ext cx="550903" cy="430410"/>
          </a:xfrm>
          <a:prstGeom prst="roundRect">
            <a:avLst>
              <a:gd name="adj" fmla="val 5000"/>
            </a:avLst>
          </a:prstGeom>
          <a:solidFill>
            <a:srgbClr val="F1C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Support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2500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14946" y="5050504"/>
            <a:ext cx="123878" cy="430410"/>
          </a:xfrm>
          <a:prstGeom prst="roundRect">
            <a:avLst>
              <a:gd name="adj" fmla="val 5000"/>
            </a:avLst>
          </a:prstGeom>
          <a:solidFill>
            <a:srgbClr val="F0D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Social channels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49796" y="5050504"/>
            <a:ext cx="33978" cy="430410"/>
          </a:xfrm>
          <a:prstGeom prst="roundRect">
            <a:avLst>
              <a:gd name="adj" fmla="val 5000"/>
            </a:avLst>
          </a:prstGeom>
          <a:solidFill>
            <a:srgbClr val="F0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Feedback systems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5718" y="1057046"/>
            <a:ext cx="647396" cy="4423868"/>
          </a:xfrm>
          <a:prstGeom prst="roundRect">
            <a:avLst>
              <a:gd name="adj" fmla="val 5000"/>
            </a:avLst>
          </a:prstGeom>
          <a:solidFill>
            <a:srgbClr val="E4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Discord &amp; community</a:t>
            </a:r>
          </a:p>
          <a:p>
            <a:pPr algn="ctr"/>
            <a:r>
              <a:rPr sz="1500" b="0">
                <a:solidFill>
                  <a:srgbClr val="1A1714"/>
                </a:solidFill>
                <a:latin typeface="Calibri"/>
              </a:rPr>
              <a:t>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54C"/>
                </a:solidFill>
                <a:latin typeface="Calibri"/>
              </a:rPr>
              <a:t>Area is linear with volume (Documentation ≈ 1500× Feedback). Discord is unmeasured — not on the size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714"/>
                </a:solidFill>
                <a:latin typeface="Calibri"/>
              </a:rPr>
              <a:t>We redesigned one of the smallest, clearest surfaces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