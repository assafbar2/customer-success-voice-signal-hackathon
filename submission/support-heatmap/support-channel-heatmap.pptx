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A1714"/>
                </a:solidFill>
                <a:latin typeface="Calibri"/>
              </a:rPr>
              <a:t>Where attention already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C554C"/>
                </a:solidFill>
                <a:latin typeface="Calibri"/>
              </a:rPr>
              <a:t>Heat = relative volume across support-adjacent surfaces. Same type everywhere — Support is bold.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C44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BF6"/>
                </a:solidFill>
                <a:latin typeface="Calibri"/>
              </a:rPr>
              <a:t>Documentation</a:t>
            </a:r>
          </a:p>
          <a:p>
            <a:pPr algn="ctr"/>
            <a:r>
              <a:rPr sz="1800" b="0">
                <a:solidFill>
                  <a:srgbClr val="FFFBF6"/>
                </a:solidFill>
                <a:latin typeface="Calibri"/>
              </a:rPr>
              <a:t>300,000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4247" y="1234440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CF5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BF6"/>
                </a:solidFill>
                <a:latin typeface="Calibri"/>
              </a:rPr>
              <a:t>Help centers total articles views</a:t>
            </a:r>
          </a:p>
          <a:p>
            <a:pPr algn="ctr"/>
            <a:r>
              <a:rPr sz="1800" b="0">
                <a:solidFill>
                  <a:srgbClr val="FFFBF6"/>
                </a:solidFill>
                <a:latin typeface="Calibri"/>
              </a:rPr>
              <a:t>152,000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9854" y="1234440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EC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A1714"/>
                </a:solidFill>
                <a:latin typeface="Calibri"/>
              </a:rPr>
              <a:t>Kapa</a:t>
            </a:r>
          </a:p>
          <a:p>
            <a:pPr algn="ctr"/>
            <a:r>
              <a:rPr sz="1800" b="0">
                <a:solidFill>
                  <a:srgbClr val="1A1714"/>
                </a:solidFill>
                <a:latin typeface="Calibri"/>
              </a:rPr>
              <a:t>11,000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5461" y="1234440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F1C4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A1714"/>
                </a:solidFill>
                <a:latin typeface="Calibri"/>
              </a:rPr>
              <a:t>GitHub issues &amp; discussions</a:t>
            </a:r>
          </a:p>
          <a:p>
            <a:pPr algn="ctr"/>
            <a:r>
              <a:rPr sz="1800" b="0">
                <a:solidFill>
                  <a:srgbClr val="1A1714"/>
                </a:solidFill>
                <a:latin typeface="Calibri"/>
              </a:rPr>
              <a:t>2500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95828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F1C4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A1714"/>
                </a:solidFill>
                <a:latin typeface="Calibri"/>
              </a:rPr>
              <a:t>Support</a:t>
            </a:r>
          </a:p>
          <a:p>
            <a:pPr algn="ctr"/>
            <a:r>
              <a:rPr sz="1800" b="0">
                <a:solidFill>
                  <a:srgbClr val="1A1714"/>
                </a:solidFill>
                <a:latin typeface="Calibri"/>
              </a:rPr>
              <a:t>2500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4247" y="3195828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F0D7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A1714"/>
                </a:solidFill>
                <a:latin typeface="Calibri"/>
              </a:rPr>
              <a:t>Social channels</a:t>
            </a:r>
          </a:p>
          <a:p>
            <a:pPr algn="ctr"/>
            <a:r>
              <a:rPr sz="1800" b="0">
                <a:solidFill>
                  <a:srgbClr val="1A1714"/>
                </a:solidFill>
                <a:latin typeface="Calibri"/>
              </a:rPr>
              <a:t>600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854" y="3195828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F0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A1714"/>
                </a:solidFill>
                <a:latin typeface="Calibri"/>
              </a:rPr>
              <a:t>Feedback systems</a:t>
            </a:r>
          </a:p>
          <a:p>
            <a:pPr algn="ctr"/>
            <a:r>
              <a:rPr sz="1800" b="0">
                <a:solidFill>
                  <a:srgbClr val="1A1714"/>
                </a:solidFill>
                <a:latin typeface="Calibri"/>
              </a:rPr>
              <a:t>200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5461" y="3195828"/>
            <a:ext cx="2677591" cy="1833372"/>
          </a:xfrm>
          <a:prstGeom prst="roundRect">
            <a:avLst>
              <a:gd name="adj" fmla="val 8000"/>
            </a:avLst>
          </a:prstGeom>
          <a:solidFill>
            <a:srgbClr val="E4E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A1714"/>
                </a:solidFill>
                <a:latin typeface="Calibri"/>
              </a:rPr>
              <a:t>Discord &amp; community</a:t>
            </a:r>
          </a:p>
          <a:p>
            <a:pPr algn="ctr"/>
            <a:r>
              <a:rPr sz="1800" b="0">
                <a:solidFill>
                  <a:srgbClr val="1A1714"/>
                </a:solidFill>
                <a:latin typeface="Calibri"/>
              </a:rP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257800"/>
            <a:ext cx="162020" cy="201168"/>
          </a:xfrm>
          <a:prstGeom prst="rect">
            <a:avLst/>
          </a:prstGeom>
          <a:solidFill>
            <a:srgbClr val="F0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" y="5257800"/>
            <a:ext cx="162020" cy="201168"/>
          </a:xfrm>
          <a:prstGeom prst="rect">
            <a:avLst/>
          </a:prstGeom>
          <a:solidFill>
            <a:srgbClr val="F0E1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257800"/>
            <a:ext cx="162020" cy="201168"/>
          </a:xfrm>
          <a:prstGeom prst="rect">
            <a:avLst/>
          </a:prstGeom>
          <a:solidFill>
            <a:srgbClr val="F0DD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8700" y="5257800"/>
            <a:ext cx="162020" cy="201168"/>
          </a:xfrm>
          <a:prstGeom prst="rect">
            <a:avLst/>
          </a:prstGeom>
          <a:solidFill>
            <a:srgbClr val="F0D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88720" y="5257800"/>
            <a:ext cx="162020" cy="201168"/>
          </a:xfrm>
          <a:prstGeom prst="rect">
            <a:avLst/>
          </a:prstGeom>
          <a:solidFill>
            <a:srgbClr val="F0D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48740" y="5257800"/>
            <a:ext cx="162020" cy="201168"/>
          </a:xfrm>
          <a:prstGeom prst="rect">
            <a:avLst/>
          </a:prstGeom>
          <a:solidFill>
            <a:srgbClr val="F1D0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508760" y="5257800"/>
            <a:ext cx="162020" cy="201168"/>
          </a:xfrm>
          <a:prstGeom prst="rect">
            <a:avLst/>
          </a:prstGeom>
          <a:solidFill>
            <a:srgbClr val="F1C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68780" y="5257800"/>
            <a:ext cx="162020" cy="201168"/>
          </a:xfrm>
          <a:prstGeom prst="rect">
            <a:avLst/>
          </a:prstGeom>
          <a:solidFill>
            <a:srgbClr val="F1C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0" y="5257800"/>
            <a:ext cx="162020" cy="201168"/>
          </a:xfrm>
          <a:prstGeom prst="rect">
            <a:avLst/>
          </a:prstGeom>
          <a:solidFill>
            <a:srgbClr val="F1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88820" y="5257800"/>
            <a:ext cx="162020" cy="201168"/>
          </a:xfrm>
          <a:prstGeom prst="rect">
            <a:avLst/>
          </a:prstGeom>
          <a:solidFill>
            <a:srgbClr val="F0B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48840" y="5257800"/>
            <a:ext cx="162020" cy="201168"/>
          </a:xfrm>
          <a:prstGeom prst="rect">
            <a:avLst/>
          </a:prstGeom>
          <a:solidFill>
            <a:srgbClr val="EFB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08860" y="5257800"/>
            <a:ext cx="162020" cy="201168"/>
          </a:xfrm>
          <a:prstGeom prst="rect">
            <a:avLst/>
          </a:prstGeom>
          <a:solidFill>
            <a:srgbClr val="EEA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5257800"/>
            <a:ext cx="162020" cy="201168"/>
          </a:xfrm>
          <a:prstGeom prst="rect">
            <a:avLst/>
          </a:prstGeom>
          <a:solidFill>
            <a:srgbClr val="EDA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5257800"/>
            <a:ext cx="162020" cy="201168"/>
          </a:xfrm>
          <a:prstGeom prst="rect">
            <a:avLst/>
          </a:prstGeom>
          <a:solidFill>
            <a:srgbClr val="EB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88920" y="5257800"/>
            <a:ext cx="162020" cy="201168"/>
          </a:xfrm>
          <a:prstGeom prst="rect">
            <a:avLst/>
          </a:prstGeom>
          <a:solidFill>
            <a:srgbClr val="EA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8940" y="5257800"/>
            <a:ext cx="162020" cy="201168"/>
          </a:xfrm>
          <a:prstGeom prst="rect">
            <a:avLst/>
          </a:prstGeom>
          <a:solidFill>
            <a:srgbClr val="E99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5257800"/>
            <a:ext cx="162020" cy="201168"/>
          </a:xfrm>
          <a:prstGeom prst="rect">
            <a:avLst/>
          </a:prstGeom>
          <a:solidFill>
            <a:srgbClr val="E88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68980" y="5257800"/>
            <a:ext cx="162020" cy="201168"/>
          </a:xfrm>
          <a:prstGeom prst="rect">
            <a:avLst/>
          </a:prstGeom>
          <a:solidFill>
            <a:srgbClr val="E38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29000" y="5257800"/>
            <a:ext cx="162020" cy="201168"/>
          </a:xfrm>
          <a:prstGeom prst="rect">
            <a:avLst/>
          </a:prstGeom>
          <a:solidFill>
            <a:srgbClr val="DE7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89020" y="5257800"/>
            <a:ext cx="162020" cy="201168"/>
          </a:xfrm>
          <a:prstGeom prst="rect">
            <a:avLst/>
          </a:prstGeom>
          <a:solidFill>
            <a:srgbClr val="D86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40" y="5257800"/>
            <a:ext cx="162020" cy="201168"/>
          </a:xfrm>
          <a:prstGeom prst="rect">
            <a:avLst/>
          </a:prstGeom>
          <a:solidFill>
            <a:srgbClr val="D36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09060" y="5257800"/>
            <a:ext cx="162020" cy="201168"/>
          </a:xfrm>
          <a:prstGeom prst="rect">
            <a:avLst/>
          </a:prstGeom>
          <a:solidFill>
            <a:srgbClr val="CE5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9080" y="5257800"/>
            <a:ext cx="162020" cy="201168"/>
          </a:xfrm>
          <a:prstGeom prst="rect">
            <a:avLst/>
          </a:prstGeom>
          <a:solidFill>
            <a:srgbClr val="C94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29100" y="5257800"/>
            <a:ext cx="162020" cy="201168"/>
          </a:xfrm>
          <a:prstGeom prst="rect">
            <a:avLst/>
          </a:prstGeom>
          <a:solidFill>
            <a:srgbClr val="C44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53212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C554C"/>
                </a:solidFill>
                <a:latin typeface="Calibri"/>
              </a:rPr>
              <a:t>Lower 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553212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554C"/>
                </a:solidFill>
                <a:latin typeface="Calibri"/>
              </a:rPr>
              <a:t>Higher volume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1714"/>
                </a:solidFill>
                <a:latin typeface="Calibri"/>
              </a:rPr>
              <a:t>We redesigned one of the smallest, clearest surfaces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